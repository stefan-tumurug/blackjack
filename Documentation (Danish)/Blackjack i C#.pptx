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84" r:id="rId6"/>
    <p:sldId id="277" r:id="rId7"/>
    <p:sldId id="287" r:id="rId8"/>
    <p:sldId id="282" r:id="rId9"/>
    <p:sldId id="283" r:id="rId10"/>
    <p:sldId id="290" r:id="rId11"/>
    <p:sldId id="291" r:id="rId12"/>
    <p:sldId id="263" r:id="rId13"/>
    <p:sldId id="262" r:id="rId14"/>
    <p:sldId id="264" r:id="rId15"/>
    <p:sldId id="275" r:id="rId16"/>
    <p:sldId id="289" r:id="rId17"/>
  </p:sldIdLst>
  <p:sldSz cx="12192000" cy="6858000"/>
  <p:notesSz cx="6858000" cy="9144000"/>
  <p:defaultTextStyle>
    <a:defPPr rtl="0"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Forfatter" initials="F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8" autoAdjust="0"/>
    <p:restoredTop sz="94660"/>
  </p:normalViewPr>
  <p:slideViewPr>
    <p:cSldViewPr snapToGrid="0">
      <p:cViewPr varScale="1">
        <p:scale>
          <a:sx n="78" d="100"/>
          <a:sy n="78" d="100"/>
        </p:scale>
        <p:origin x="73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7" d="100"/>
          <a:sy n="77" d="100"/>
        </p:scale>
        <p:origin x="319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a-DK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7568598-B467-4351-8427-D5323CDEA632}" type="datetime1">
              <a:rPr lang="da-DK" smtClean="0"/>
              <a:t>13-02-2026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a-DK" noProof="0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0B487FA-24C8-4160-82F0-0A0B18FC9CF9}" type="datetime1">
              <a:rPr lang="da-DK" noProof="0" smtClean="0"/>
              <a:t>13-02-2026</a:t>
            </a:fld>
            <a:endParaRPr lang="da-DK" noProof="0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a-DK" noProof="0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a-DK" noProof="0"/>
              <a:t>Klik for at redigere i master</a:t>
            </a:r>
          </a:p>
          <a:p>
            <a:pPr lvl="1" rtl="0"/>
            <a:r>
              <a:rPr lang="da-DK" noProof="0"/>
              <a:t>Andet niveau</a:t>
            </a:r>
          </a:p>
          <a:p>
            <a:pPr lvl="2" rtl="0"/>
            <a:r>
              <a:rPr lang="da-DK" noProof="0"/>
              <a:t>Tredje niveau</a:t>
            </a:r>
          </a:p>
          <a:p>
            <a:pPr lvl="3" rtl="0"/>
            <a:r>
              <a:rPr lang="da-DK" noProof="0"/>
              <a:t>Fjerde niveau</a:t>
            </a:r>
          </a:p>
          <a:p>
            <a:pPr lvl="4" rtl="0"/>
            <a:r>
              <a:rPr lang="da-DK" noProof="0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a-DK" noProof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da-DK" noProof="0" smtClean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r>
              <a:rPr lang="da-DK" dirty="0"/>
              <a:t>Jeg har lavet en Blackjack CLI i C#</a:t>
            </a:r>
          </a:p>
          <a:p>
            <a:r>
              <a:rPr lang="da-DK" dirty="0"/>
              <a:t>Fokus har været struktur, testbarhed og ren kode</a:t>
            </a:r>
          </a:p>
          <a:p>
            <a:pPr rtl="0"/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CLI Konsol baseret, bygget som lagdelt software</a:t>
            </a:r>
          </a:p>
          <a:p>
            <a:endParaRPr lang="da-DK" dirty="0"/>
          </a:p>
          <a:p>
            <a:r>
              <a:rPr lang="da-DK" dirty="0"/>
              <a:t>Core bruges direkte i UI / GUI hvis det havde været tilføjet</a:t>
            </a:r>
          </a:p>
          <a:p>
            <a:endParaRPr lang="da-DK" dirty="0"/>
          </a:p>
          <a:p>
            <a:r>
              <a:rPr lang="da-DK" dirty="0"/>
              <a:t>CLI er kun </a:t>
            </a:r>
            <a:r>
              <a:rPr lang="da-DK" dirty="0" err="1"/>
              <a:t>frontend</a:t>
            </a:r>
            <a:r>
              <a:rPr lang="da-DK" dirty="0"/>
              <a:t>, og bruges da der ikke var nok tid til en grafisk udarbejdelse, og det var nok til et minimal product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957348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dirty="0"/>
              <a:t>Kravene sagde hvad spillet skulle kunne. Jeg fokuserede på hvordan det er bygget.</a:t>
            </a:r>
          </a:p>
          <a:p>
            <a:endParaRPr lang="da-DK" dirty="0"/>
          </a:p>
          <a:p>
            <a:r>
              <a:rPr lang="da-DK" dirty="0"/>
              <a:t>Opdeling i Core / CLI / Tests</a:t>
            </a:r>
          </a:p>
          <a:p>
            <a:endParaRPr lang="da-DK" dirty="0"/>
          </a:p>
          <a:p>
            <a:r>
              <a:rPr lang="da-DK" dirty="0" err="1"/>
              <a:t>FakeDeck</a:t>
            </a:r>
            <a:endParaRPr lang="da-DK" dirty="0"/>
          </a:p>
          <a:p>
            <a:endParaRPr lang="da-DK" dirty="0"/>
          </a:p>
          <a:p>
            <a:r>
              <a:rPr lang="da-DK" dirty="0"/>
              <a:t>Automatiske tests</a:t>
            </a:r>
          </a:p>
          <a:p>
            <a:endParaRPr lang="da-DK" dirty="0"/>
          </a:p>
          <a:p>
            <a:r>
              <a:rPr lang="da-DK" dirty="0"/>
              <a:t>Input-validering</a:t>
            </a:r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357770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Jeg har adskilt game </a:t>
            </a:r>
            <a:r>
              <a:rPr lang="da-DK" dirty="0" err="1"/>
              <a:t>logic</a:t>
            </a:r>
            <a:r>
              <a:rPr lang="da-DK" dirty="0"/>
              <a:t>, input og </a:t>
            </a:r>
            <a:r>
              <a:rPr lang="da-DK" dirty="0" err="1"/>
              <a:t>rendering</a:t>
            </a:r>
            <a:r>
              <a:rPr lang="da-DK" dirty="0"/>
              <a:t>, så hver klasse kun har én grund til at ændre sig.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51422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ConsoleRenderer</a:t>
            </a:r>
            <a:r>
              <a:rPr lang="da-DK" dirty="0"/>
              <a:t> viser kun tekst. </a:t>
            </a:r>
            <a:r>
              <a:rPr lang="da-DK" dirty="0" err="1"/>
              <a:t>GameEngine</a:t>
            </a:r>
            <a:r>
              <a:rPr lang="da-DK" dirty="0"/>
              <a:t> styrer kun spil.</a:t>
            </a:r>
          </a:p>
          <a:p>
            <a:endParaRPr lang="da-DK" dirty="0"/>
          </a:p>
          <a:p>
            <a:r>
              <a:rPr lang="da-DK" dirty="0"/>
              <a:t>I spillet er kort tilfældige.</a:t>
            </a:r>
            <a:br>
              <a:rPr lang="da-DK" dirty="0"/>
            </a:br>
            <a:r>
              <a:rPr lang="da-DK" dirty="0"/>
              <a:t>I tests bestemmer jeg kortene.</a:t>
            </a:r>
          </a:p>
          <a:p>
            <a:endParaRPr lang="da-DK" dirty="0"/>
          </a:p>
          <a:p>
            <a:r>
              <a:rPr lang="da-DK" dirty="0"/>
              <a:t>Ellers kan man ikke teste regler pålideligt.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65710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Unit tests her fokuserer på logikkens adfærd, ikke selve UI, da det blot viser hvad der sker i koden. Derfor er </a:t>
            </a:r>
            <a:r>
              <a:rPr lang="da-DK" dirty="0" err="1"/>
              <a:t>MSTest</a:t>
            </a:r>
            <a:r>
              <a:rPr lang="da-DK" dirty="0"/>
              <a:t> nok til at bekræfte funktioner.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36396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Selve værdien af Es er normalt 11, es-</a:t>
            </a:r>
            <a:r>
              <a:rPr lang="da-DK" dirty="0" err="1"/>
              <a:t>loggiken</a:t>
            </a:r>
            <a:r>
              <a:rPr lang="da-DK" dirty="0"/>
              <a:t> gør at 11 ændres til 1 hvis es er til stede og hånden bliver større end 21.</a:t>
            </a:r>
          </a:p>
          <a:p>
            <a:endParaRPr lang="da-DK" dirty="0"/>
          </a:p>
          <a:p>
            <a:endParaRPr lang="da-DK" dirty="0"/>
          </a:p>
          <a:p>
            <a:r>
              <a:rPr lang="da-DK" dirty="0"/>
              <a:t>I Tests giver </a:t>
            </a:r>
            <a:r>
              <a:rPr lang="da-DK" dirty="0" err="1"/>
              <a:t>FakeDeck</a:t>
            </a:r>
            <a:r>
              <a:rPr lang="da-DK" dirty="0"/>
              <a:t> forudbestemte kort, for at bevise at reglerne virker. </a:t>
            </a:r>
          </a:p>
          <a:p>
            <a:r>
              <a:rPr lang="da-DK" dirty="0"/>
              <a:t>Denne kode bliver kørt i en Shell game engine, hvor </a:t>
            </a:r>
            <a:r>
              <a:rPr lang="da-DK" dirty="0" err="1"/>
              <a:t>shuffle</a:t>
            </a:r>
            <a:r>
              <a:rPr lang="da-DK" dirty="0"/>
              <a:t> ikke er i brug.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noProof="0" smtClean="0"/>
              <a:t>7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8616027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Coverage</a:t>
            </a:r>
            <a:r>
              <a:rPr lang="da-DK" dirty="0"/>
              <a:t>-rapporten viser, hvor stor en del af koden der bliver kørt af mine automatiske tests.</a:t>
            </a:r>
          </a:p>
          <a:p>
            <a:endParaRPr lang="da-DK" dirty="0"/>
          </a:p>
          <a:p>
            <a:r>
              <a:rPr lang="da-DK" dirty="0" err="1"/>
              <a:t>FakeDeck</a:t>
            </a:r>
            <a:r>
              <a:rPr lang="da-DK" dirty="0"/>
              <a:t> dækker Deck</a:t>
            </a:r>
          </a:p>
          <a:p>
            <a:endParaRPr lang="da-DK" dirty="0"/>
          </a:p>
          <a:p>
            <a:r>
              <a:rPr lang="da-DK" dirty="0" err="1"/>
              <a:t>Suit</a:t>
            </a:r>
            <a:r>
              <a:rPr lang="da-DK" dirty="0"/>
              <a:t> indgår ikke i tests, da kulør ikke påvirker spilreglerne og allerede er fastlagt i testdata.</a:t>
            </a:r>
          </a:p>
          <a:p>
            <a:endParaRPr lang="da-DK" dirty="0"/>
          </a:p>
          <a:p>
            <a:r>
              <a:rPr lang="da-DK" dirty="0" err="1"/>
              <a:t>IReadOnlyList</a:t>
            </a:r>
            <a:r>
              <a:rPr lang="da-DK" dirty="0"/>
              <a:t> beskytter domænemodellen, men tests er </a:t>
            </a:r>
            <a:r>
              <a:rPr lang="da-DK" dirty="0" err="1"/>
              <a:t>trusted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noProof="0" smtClean="0"/>
              <a:t>8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661325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Strukturen blev udarbejdet først, med fokus på filstruktur som 1, spilregler som 2, game engine som 3, tests som 4, og UI som 5. </a:t>
            </a:r>
          </a:p>
          <a:p>
            <a:r>
              <a:rPr lang="da-DK" dirty="0"/>
              <a:t>Dette var for at skabe overblik over projektet, og arbejde med det målrettet i rækkefølge.</a:t>
            </a:r>
          </a:p>
          <a:p>
            <a:endParaRPr lang="da-DK" dirty="0"/>
          </a:p>
          <a:p>
            <a:r>
              <a:rPr lang="da-DK" dirty="0"/>
              <a:t>Tests kom så snart logik var færdigt, for at vide tidligt om det fungerer, før det overhovedet blev implementeret i UI.</a:t>
            </a:r>
          </a:p>
          <a:p>
            <a:endParaRPr lang="da-DK" dirty="0"/>
          </a:p>
          <a:p>
            <a:r>
              <a:rPr lang="da-DK" dirty="0"/>
              <a:t>Dokumentation i form af </a:t>
            </a:r>
            <a:r>
              <a:rPr lang="da-DK" dirty="0" err="1"/>
              <a:t>Tidsregistration</a:t>
            </a:r>
            <a:r>
              <a:rPr lang="da-DK" dirty="0"/>
              <a:t> og Fremgangsmåde blev udført undervejs.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894587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Visuelt ses disse funktioner:</a:t>
            </a:r>
          </a:p>
          <a:p>
            <a:endParaRPr lang="da-DK" dirty="0"/>
          </a:p>
          <a:p>
            <a:r>
              <a:rPr lang="da-DK" dirty="0"/>
              <a:t>Start</a:t>
            </a:r>
          </a:p>
          <a:p>
            <a:r>
              <a:rPr lang="da-DK" dirty="0"/>
              <a:t>Stand</a:t>
            </a:r>
          </a:p>
          <a:p>
            <a:r>
              <a:rPr lang="da-DK" dirty="0"/>
              <a:t>Resultat</a:t>
            </a:r>
          </a:p>
          <a:p>
            <a:endParaRPr lang="da-DK" dirty="0"/>
          </a:p>
          <a:p>
            <a:r>
              <a:rPr lang="da-DK" dirty="0"/>
              <a:t>Nu viser jeg kun et tab, men tests bekræfter Win og Draw.</a:t>
            </a:r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259852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51152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dirty="0"/>
              <a:t>Alt kan bygges ovenpå Core uden at ændre eksisterende kode</a:t>
            </a:r>
          </a:p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1977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b="1" dirty="0"/>
              <a:t>“Hvad var det sværeste?”</a:t>
            </a:r>
          </a:p>
          <a:p>
            <a:r>
              <a:rPr lang="da-DK" dirty="0"/>
              <a:t>At udarbejde tests, da jeg egentligt ikke har arbejdet med </a:t>
            </a:r>
            <a:r>
              <a:rPr lang="da-DK" dirty="0" err="1"/>
              <a:t>MSTest</a:t>
            </a:r>
            <a:r>
              <a:rPr lang="da-DK" dirty="0"/>
              <a:t> før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174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1" name="Pladsholder til dato 4">
            <a:extLst>
              <a:ext uri="{FF2B5EF4-FFF2-40B4-BE49-F238E27FC236}">
                <a16:creationId xmlns:a16="http://schemas.microsoft.com/office/drawing/2014/main" id="{2FF674D8-A0B1-4D60-AB18-A733984F70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22" name="Pladsholder til sidefod 5">
            <a:extLst>
              <a:ext uri="{FF2B5EF4-FFF2-40B4-BE49-F238E27FC236}">
                <a16:creationId xmlns:a16="http://schemas.microsoft.com/office/drawing/2014/main" id="{7E0AFFFB-7406-40B3-B2D5-18288BEA5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23" name="Pladsholder til slidenummer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7" name="Pladsholder til indhold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a-DK" noProof="0"/>
              <a:t>Klik for at redigere i master</a:t>
            </a:r>
          </a:p>
        </p:txBody>
      </p:sp>
      <p:sp>
        <p:nvSpPr>
          <p:cNvPr id="8" name="Pladsholder til indhold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0" name="Pladsholder til indhold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4" name="Pladsholder til dato 4">
            <a:extLst>
              <a:ext uri="{FF2B5EF4-FFF2-40B4-BE49-F238E27FC236}">
                <a16:creationId xmlns:a16="http://schemas.microsoft.com/office/drawing/2014/main" id="{8BC6F0B0-7E88-4658-BED0-B126DDE797A0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15" name="Pladsholder til sidefod 5">
            <a:extLst>
              <a:ext uri="{FF2B5EF4-FFF2-40B4-BE49-F238E27FC236}">
                <a16:creationId xmlns:a16="http://schemas.microsoft.com/office/drawing/2014/main" id="{1B454B68-B7BD-4197-BF00-63964D76348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16" name="Pladsholder til slidenummer 6">
            <a:extLst>
              <a:ext uri="{FF2B5EF4-FFF2-40B4-BE49-F238E27FC236}">
                <a16:creationId xmlns:a16="http://schemas.microsoft.com/office/drawing/2014/main" id="{BAA42605-D696-484D-B611-62CB3140EA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fire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8" name="Pladsholder til indhold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4" name="Pladsholder til indhold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5" name="Pladsholder til indhold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6" name="Pladsholder til indhold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7" name="Pladsholder til indhold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8" name="Pladsholder til indhold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9" name="Pladsholder til indhold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20" name="Pladsholder til indhold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21" name="Pladsholder til dato 4">
            <a:extLst>
              <a:ext uri="{FF2B5EF4-FFF2-40B4-BE49-F238E27FC236}">
                <a16:creationId xmlns:a16="http://schemas.microsoft.com/office/drawing/2014/main" id="{5413A312-123E-4C7A-864E-C120568D6037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024740" y="6356350"/>
            <a:ext cx="1556659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22" name="Pladsholder til sidefod 5">
            <a:extLst>
              <a:ext uri="{FF2B5EF4-FFF2-40B4-BE49-F238E27FC236}">
                <a16:creationId xmlns:a16="http://schemas.microsoft.com/office/drawing/2014/main" id="{F3306EE3-B07E-48BA-A4EE-EAFE9A458C3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8600" y="6356350"/>
            <a:ext cx="5268686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23" name="Pladsholder til slidenummer 6">
            <a:extLst>
              <a:ext uri="{FF2B5EF4-FFF2-40B4-BE49-F238E27FC236}">
                <a16:creationId xmlns:a16="http://schemas.microsoft.com/office/drawing/2014/main" id="{6A049DF0-5C6A-4542-841D-C03F6230482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764486" y="6356350"/>
            <a:ext cx="1589314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venstre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titlen</a:t>
            </a:r>
          </a:p>
        </p:txBody>
      </p:sp>
      <p:sp>
        <p:nvSpPr>
          <p:cNvPr id="8" name="Pladsholder til indhold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4" name="Pladsholder til dato 4">
            <a:extLst>
              <a:ext uri="{FF2B5EF4-FFF2-40B4-BE49-F238E27FC236}">
                <a16:creationId xmlns:a16="http://schemas.microsoft.com/office/drawing/2014/main" id="{38ABA718-1AEF-413D-964E-FA9CA8EDD8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3429000"/>
            <a:ext cx="4180114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5" name="Pladsholder til sidefod 5">
            <a:extLst>
              <a:ext uri="{FF2B5EF4-FFF2-40B4-BE49-F238E27FC236}">
                <a16:creationId xmlns:a16="http://schemas.microsoft.com/office/drawing/2014/main" id="{BCCB3A69-6840-43C8-94EB-C3EF41DBC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16" name="Pladsholder til slidenummer 6">
            <a:extLst>
              <a:ext uri="{FF2B5EF4-FFF2-40B4-BE49-F238E27FC236}">
                <a16:creationId xmlns:a16="http://schemas.microsoft.com/office/drawing/2014/main" id="{B374594B-C272-477C-B1DB-A1E214CED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er tekst med øverste ka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4F525B7F-8292-4AE6-B9B3-F6C0621F1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E3E86D52-9DFB-4D69-BF39-2C163B394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A0B91A39-D816-4317-AA23-55510F9D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er teks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8" name="Pladsholder til dato 4">
            <a:extLst>
              <a:ext uri="{FF2B5EF4-FFF2-40B4-BE49-F238E27FC236}">
                <a16:creationId xmlns:a16="http://schemas.microsoft.com/office/drawing/2014/main" id="{E57E5351-59BE-4BC8-83D8-BABF23172D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9" name="Pladsholder til sidefod 5">
            <a:extLst>
              <a:ext uri="{FF2B5EF4-FFF2-40B4-BE49-F238E27FC236}">
                <a16:creationId xmlns:a16="http://schemas.microsoft.com/office/drawing/2014/main" id="{7F2C600D-D61A-47D7-88A2-66D269DC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10" name="Pladsholder til slidenummer 6">
            <a:extLst>
              <a:ext uri="{FF2B5EF4-FFF2-40B4-BE49-F238E27FC236}">
                <a16:creationId xmlns:a16="http://schemas.microsoft.com/office/drawing/2014/main" id="{E257B2EA-F7F2-4B84-A989-76BF9D0F8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 fir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ktangel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9" name="Pladsholder til tekst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1</a:t>
            </a:r>
          </a:p>
        </p:txBody>
      </p:sp>
      <p:sp>
        <p:nvSpPr>
          <p:cNvPr id="11" name="Pladsholder til tekst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2</a:t>
            </a:r>
          </a:p>
        </p:txBody>
      </p:sp>
      <p:sp>
        <p:nvSpPr>
          <p:cNvPr id="13" name="Pladsholder til tekst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3</a:t>
            </a:r>
          </a:p>
        </p:txBody>
      </p:sp>
      <p:sp>
        <p:nvSpPr>
          <p:cNvPr id="15" name="Pladsholder til tekst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4</a:t>
            </a:r>
          </a:p>
        </p:txBody>
      </p:sp>
      <p:sp>
        <p:nvSpPr>
          <p:cNvPr id="21" name="Pladsholder til onlinebillede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2" name="Pladsholder til onlinebillede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3" name="Pladsholder til onlinebillede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4" name="Pladsholder til onlinebillede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5" name="Pladsholder til dato 4">
            <a:extLst>
              <a:ext uri="{FF2B5EF4-FFF2-40B4-BE49-F238E27FC236}">
                <a16:creationId xmlns:a16="http://schemas.microsoft.com/office/drawing/2014/main" id="{8B2D064B-EC57-4EA9-96ED-918E61BFD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26" name="Pladsholder til sidefod 5">
            <a:extLst>
              <a:ext uri="{FF2B5EF4-FFF2-40B4-BE49-F238E27FC236}">
                <a16:creationId xmlns:a16="http://schemas.microsoft.com/office/drawing/2014/main" id="{B2A70FF9-0C32-4443-A788-56E40DD7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27" name="Pladsholder til slidenummer 6">
            <a:extLst>
              <a:ext uri="{FF2B5EF4-FFF2-40B4-BE49-F238E27FC236}">
                <a16:creationId xmlns:a16="http://schemas.microsoft.com/office/drawing/2014/main" id="{D51176E4-E898-4497-ACF7-72CFF75FE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fire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9" name="Pladsholder til tekst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1</a:t>
            </a:r>
          </a:p>
        </p:txBody>
      </p:sp>
      <p:sp>
        <p:nvSpPr>
          <p:cNvPr id="11" name="Pladsholder til tekst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2</a:t>
            </a:r>
          </a:p>
        </p:txBody>
      </p:sp>
      <p:sp>
        <p:nvSpPr>
          <p:cNvPr id="13" name="Pladsholder til tekst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3</a:t>
            </a:r>
          </a:p>
        </p:txBody>
      </p:sp>
      <p:sp>
        <p:nvSpPr>
          <p:cNvPr id="15" name="Pladsholder til tekst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4</a:t>
            </a:r>
          </a:p>
        </p:txBody>
      </p:sp>
      <p:sp>
        <p:nvSpPr>
          <p:cNvPr id="21" name="Pladsholder til onlinebillede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2" name="Pladsholder til onlinebillede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3" name="Pladsholder til onlinebillede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24" name="Pladsholder til onlinebillede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/>
            </a:lvl1pPr>
          </a:lstStyle>
          <a:p>
            <a:pPr rtl="0"/>
            <a:r>
              <a:rPr lang="en-US" noProof="0"/>
              <a:t>Click icon to add online image</a:t>
            </a:r>
            <a:endParaRPr lang="da-DK" noProof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16" name="Pladsholder til tekst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1</a:t>
            </a:r>
          </a:p>
        </p:txBody>
      </p:sp>
      <p:sp>
        <p:nvSpPr>
          <p:cNvPr id="17" name="Pladsholder til tekst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2</a:t>
            </a:r>
          </a:p>
        </p:txBody>
      </p:sp>
      <p:sp>
        <p:nvSpPr>
          <p:cNvPr id="18" name="Pladsholder til tekst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3</a:t>
            </a:r>
          </a:p>
        </p:txBody>
      </p:sp>
      <p:sp>
        <p:nvSpPr>
          <p:cNvPr id="19" name="Pladsholder til tekst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Punkttegn 4</a:t>
            </a:r>
          </a:p>
        </p:txBody>
      </p:sp>
      <p:sp>
        <p:nvSpPr>
          <p:cNvPr id="28" name="Pladsholder til tekst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30" name="Pladsholder til dato 4">
            <a:extLst>
              <a:ext uri="{FF2B5EF4-FFF2-40B4-BE49-F238E27FC236}">
                <a16:creationId xmlns:a16="http://schemas.microsoft.com/office/drawing/2014/main" id="{5EBE65FE-7980-4861-93F3-178D1931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31" name="Pladsholder til sidefod 5">
            <a:extLst>
              <a:ext uri="{FF2B5EF4-FFF2-40B4-BE49-F238E27FC236}">
                <a16:creationId xmlns:a16="http://schemas.microsoft.com/office/drawing/2014/main" id="{5941D839-A1FC-4620-8485-F69D66D59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32" name="Pladsholder til slidenummer 6">
            <a:extLst>
              <a:ext uri="{FF2B5EF4-FFF2-40B4-BE49-F238E27FC236}">
                <a16:creationId xmlns:a16="http://schemas.microsoft.com/office/drawing/2014/main" id="{B3B8613F-19BE-4CDB-BC4C-C321B4B8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sationsdiagra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9" name="Pladsholder til tekst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4" name="Pladsholder til tekst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16" name="Pladsholder til tekst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7" name="Pladsholder til tekst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18" name="Pladsholder til tekst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9" name="Pladsholder til tekst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0" name="Pladsholder til tekst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5" name="Pladsholder til tekst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6" name="Pladsholder til tekst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7" name="Pladsholder til tekst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8" name="Pladsholder til tekst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9" name="Pladsholder til tekst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cxnSp>
        <p:nvCxnSpPr>
          <p:cNvPr id="5" name="Lige forbindelse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Pladsholder til dato 4">
            <a:extLst>
              <a:ext uri="{FF2B5EF4-FFF2-40B4-BE49-F238E27FC236}">
                <a16:creationId xmlns:a16="http://schemas.microsoft.com/office/drawing/2014/main" id="{BA4BCF05-CDFF-42C0-A406-D762B747C7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42" name="Pladsholder til sidefod 5">
            <a:extLst>
              <a:ext uri="{FF2B5EF4-FFF2-40B4-BE49-F238E27FC236}">
                <a16:creationId xmlns:a16="http://schemas.microsoft.com/office/drawing/2014/main" id="{FE043986-6365-4919-A13C-B1086DCFF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43" name="Pladsholder til slidenummer 6">
            <a:extLst>
              <a:ext uri="{FF2B5EF4-FFF2-40B4-BE49-F238E27FC236}">
                <a16:creationId xmlns:a16="http://schemas.microsoft.com/office/drawing/2014/main" id="{4FD22B22-DA9C-4B3F-A67F-D07291278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Lige forbindelse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Lige forbindelse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Lige forbindelse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Lige forbindelse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højre indhold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da-DK" noProof="0"/>
              <a:t>Klik for at redigere i master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7" name="Pladsholder til dato 4">
            <a:extLst>
              <a:ext uri="{FF2B5EF4-FFF2-40B4-BE49-F238E27FC236}">
                <a16:creationId xmlns:a16="http://schemas.microsoft.com/office/drawing/2014/main" id="{9ECA7294-D791-453A-AEDA-C7BC2C83BA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8" name="Pladsholder til sidefod 5">
            <a:extLst>
              <a:ext uri="{FF2B5EF4-FFF2-40B4-BE49-F238E27FC236}">
                <a16:creationId xmlns:a16="http://schemas.microsoft.com/office/drawing/2014/main" id="{E3F008A3-FE03-4B55-99DE-C66C7215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10" name="Pladsholder til slidenummer 6">
            <a:extLst>
              <a:ext uri="{FF2B5EF4-FFF2-40B4-BE49-F238E27FC236}">
                <a16:creationId xmlns:a16="http://schemas.microsoft.com/office/drawing/2014/main" id="{561AA2A7-90C9-48FA-A998-4CB16275A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ukk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da-DK" noProof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da-DK" noProof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4D64503-659B-472D-ABF8-01D077EB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632857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FE209C12-0CED-4CD5-B463-885A793CC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00" y="6356350"/>
            <a:ext cx="2514600" cy="365125"/>
          </a:xfrm>
        </p:spPr>
        <p:txBody>
          <a:bodyPr rtlCol="0"/>
          <a:lstStyle>
            <a:lvl1pPr algn="r"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A8F03DA-3AA9-44AC-8E2B-D53B8EBEA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ktionsoverskrif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a-DK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</a:defRPr>
            </a:lvl1pPr>
          </a:lstStyle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6" name="Pladsholder til billede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da-DK" noProof="0"/>
          </a:p>
        </p:txBody>
      </p:sp>
      <p:sp>
        <p:nvSpPr>
          <p:cNvPr id="7" name="Pladsholder til billede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da-DK" noProof="0"/>
          </a:p>
        </p:txBody>
      </p:sp>
      <p:sp>
        <p:nvSpPr>
          <p:cNvPr id="8" name="Pladsholder til billede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da-DK" noProof="0"/>
          </a:p>
        </p:txBody>
      </p:sp>
      <p:sp>
        <p:nvSpPr>
          <p:cNvPr id="9" name="Pladsholder til billede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en-US" noProof="0"/>
              <a:t>Click icon to add picture</a:t>
            </a:r>
            <a:endParaRPr lang="da-DK" noProof="0"/>
          </a:p>
        </p:txBody>
      </p:sp>
      <p:sp>
        <p:nvSpPr>
          <p:cNvPr id="11" name="Pladsholder til tekst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2" name="Pladsholder til tekst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16" name="Pladsholder til tekst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17" name="Pladsholder til tekst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19" name="Pladsholder til tekst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0" name="Pladsholder til tekst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2" name="Pladsholder til tekst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Navn</a:t>
            </a:r>
          </a:p>
        </p:txBody>
      </p:sp>
      <p:sp>
        <p:nvSpPr>
          <p:cNvPr id="23" name="Pladsholder til tekst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pPr lvl="0" rtl="0"/>
            <a:r>
              <a:rPr lang="da-DK" noProof="0"/>
              <a:t>Titel</a:t>
            </a:r>
          </a:p>
        </p:txBody>
      </p:sp>
      <p:sp>
        <p:nvSpPr>
          <p:cNvPr id="24" name="Pladsholder til dato 4">
            <a:extLst>
              <a:ext uri="{FF2B5EF4-FFF2-40B4-BE49-F238E27FC236}">
                <a16:creationId xmlns:a16="http://schemas.microsoft.com/office/drawing/2014/main" id="{AD0AC7DB-F500-41DA-8326-3ED61B33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25" name="Pladsholder til sidefod 5">
            <a:extLst>
              <a:ext uri="{FF2B5EF4-FFF2-40B4-BE49-F238E27FC236}">
                <a16:creationId xmlns:a16="http://schemas.microsoft.com/office/drawing/2014/main" id="{798612DF-528A-42D7-8634-25EFF6159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26" name="Pladsholder til slidenummer 6">
            <a:extLst>
              <a:ext uri="{FF2B5EF4-FFF2-40B4-BE49-F238E27FC236}">
                <a16:creationId xmlns:a16="http://schemas.microsoft.com/office/drawing/2014/main" id="{1E3817B4-A707-4ACC-9CAC-E32B5E0A4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pPr rtl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da-DK" noProof="0"/>
              <a:t>Klik for at redigere titeltypografier i master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a-DK" noProof="0"/>
              <a:t>Klik for at redigere i master</a:t>
            </a:r>
          </a:p>
          <a:p>
            <a:pPr lvl="1" rtl="0"/>
            <a:r>
              <a:rPr lang="da-DK" noProof="0"/>
              <a:t>Andet niveau</a:t>
            </a:r>
          </a:p>
          <a:p>
            <a:pPr lvl="2" rtl="0"/>
            <a:r>
              <a:rPr lang="da-DK" noProof="0"/>
              <a:t>Tredje niveau</a:t>
            </a:r>
          </a:p>
          <a:p>
            <a:pPr lvl="3" rtl="0"/>
            <a:r>
              <a:rPr lang="da-DK" noProof="0"/>
              <a:t>Fjerde niveau</a:t>
            </a:r>
          </a:p>
          <a:p>
            <a:pPr lvl="4" rtl="0"/>
            <a:r>
              <a:rPr lang="da-DK" noProof="0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29-07-20XX</a:t>
            </a:r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a-DK" noProof="0"/>
              <a:t>Medarbejderorientering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da-DK" noProof="0" smtClean="0"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0" r:id="rId10"/>
    <p:sldLayoutId id="2147483667" r:id="rId11"/>
    <p:sldLayoutId id="2147483673" r:id="rId12"/>
    <p:sldLayoutId id="2147483651" r:id="rId13"/>
    <p:sldLayoutId id="2147483672" r:id="rId1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fan-Tumurug/Blackjack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microsoft.com/office/2007/relationships/hdphoto" Target="../media/hdphoto1.wd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sz="5200" spc="-30" dirty="0"/>
              <a:t>Blackjack i C# - Oversigt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92826" y="5277362"/>
            <a:ext cx="5740400" cy="784225"/>
          </a:xfrm>
        </p:spPr>
        <p:txBody>
          <a:bodyPr rtlCol="0"/>
          <a:lstStyle/>
          <a:p>
            <a:pPr marL="0" indent="0" rtl="0">
              <a:buNone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Stefan Andrei Tumurug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4CF4C-505F-057B-66A3-47C6C4B28D3C}"/>
              </a:ext>
            </a:extLst>
          </p:cNvPr>
          <p:cNvSpPr txBox="1"/>
          <p:nvPr/>
        </p:nvSpPr>
        <p:spPr>
          <a:xfrm>
            <a:off x="3823716" y="6488668"/>
            <a:ext cx="5567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https://github.com/Stefan-Tumurug/Blackjack</a:t>
            </a:r>
            <a:endParaRPr lang="da-DK" sz="1600" dirty="0">
              <a:solidFill>
                <a:schemeClr val="bg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189FFD-97D0-7A29-B7C6-82421F8FAA0E}"/>
              </a:ext>
            </a:extLst>
          </p:cNvPr>
          <p:cNvSpPr txBox="1"/>
          <p:nvPr/>
        </p:nvSpPr>
        <p:spPr>
          <a:xfrm>
            <a:off x="678426" y="442452"/>
            <a:ext cx="52700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Hvad indeb</a:t>
            </a: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ærer det?</a:t>
            </a:r>
          </a:p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Krav</a:t>
            </a:r>
          </a:p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Arkitektur</a:t>
            </a:r>
          </a:p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Tekniske Begrundelser</a:t>
            </a:r>
          </a:p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Arbejdsproces</a:t>
            </a:r>
          </a:p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Begrænsninger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B33A62-FE4A-9BDE-F3B9-9A42BD53502D}"/>
              </a:ext>
            </a:extLst>
          </p:cNvPr>
          <p:cNvSpPr txBox="1"/>
          <p:nvPr/>
        </p:nvSpPr>
        <p:spPr>
          <a:xfrm>
            <a:off x="6243486" y="442452"/>
            <a:ext cx="54667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Unit Tests</a:t>
            </a:r>
          </a:p>
          <a:p>
            <a:pPr algn="r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Kode</a:t>
            </a:r>
          </a:p>
          <a:p>
            <a:pPr algn="r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Coverage Tests</a:t>
            </a:r>
          </a:p>
          <a:p>
            <a:pPr algn="r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Demo</a:t>
            </a:r>
          </a:p>
          <a:p>
            <a:pPr algn="r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Udbytte</a:t>
            </a:r>
          </a:p>
          <a:p>
            <a:pPr algn="r"/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/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AB90E9-5CEE-4E4F-90F9-2CE3D9135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a-DK" dirty="0"/>
              <a:t>Hvad er projektet?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5DF4BB2-624B-43EE-8846-5659141CC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661602"/>
            <a:ext cx="5684520" cy="3181034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>
              <a:lnSpc>
                <a:spcPct val="150000"/>
              </a:lnSpc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Console-</a:t>
            </a:r>
            <a:r>
              <a:rPr lang="en-US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baseret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Blackjack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Én spiller mod dealer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Standard blackjack regler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Hit / Stand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Automatisk dealer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Spil igen</a:t>
            </a:r>
          </a:p>
        </p:txBody>
      </p:sp>
      <p:sp>
        <p:nvSpPr>
          <p:cNvPr id="12" name="Pladsholder til dato 11">
            <a:extLst>
              <a:ext uri="{FF2B5EF4-FFF2-40B4-BE49-F238E27FC236}">
                <a16:creationId xmlns:a16="http://schemas.microsoft.com/office/drawing/2014/main" id="{F068B7E0-3F26-4101-8308-9627365CC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13" name="Pladsholder til sidefod 12">
            <a:extLst>
              <a:ext uri="{FF2B5EF4-FFF2-40B4-BE49-F238E27FC236}">
                <a16:creationId xmlns:a16="http://schemas.microsoft.com/office/drawing/2014/main" id="{D53A5F38-6B02-4793-861F-931794577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4" name="Pladsholder til slidenummer 13">
            <a:extLst>
              <a:ext uri="{FF2B5EF4-FFF2-40B4-BE49-F238E27FC236}">
                <a16:creationId xmlns:a16="http://schemas.microsoft.com/office/drawing/2014/main" id="{FF0DADF7-71F8-49DA-8F56-3DE812A6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76750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3740" y="1802253"/>
            <a:ext cx="5684520" cy="1305562"/>
          </a:xfrm>
        </p:spPr>
        <p:txBody>
          <a:bodyPr rtlCol="0"/>
          <a:lstStyle/>
          <a:p>
            <a:pPr rtl="0"/>
            <a:r>
              <a:rPr lang="da-DK" dirty="0"/>
              <a:t>Krav og Løsning</a:t>
            </a:r>
          </a:p>
        </p:txBody>
      </p:sp>
      <p:sp>
        <p:nvSpPr>
          <p:cNvPr id="11" name="Pladsholder til dato 10">
            <a:extLst>
              <a:ext uri="{FF2B5EF4-FFF2-40B4-BE49-F238E27FC236}">
                <a16:creationId xmlns:a16="http://schemas.microsoft.com/office/drawing/2014/main" id="{39DEAC25-4DF8-463C-83B2-7DBD27EBB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a-DK" dirty="0"/>
              <a:t>13/02/2026</a:t>
            </a:r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da-DK" dirty="0"/>
              <a:t>Specialisterne Projekt Præsentation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da-DK" smtClean="0"/>
              <a:pPr rtl="0"/>
              <a:t>3</a:t>
            </a:fld>
            <a:endParaRPr lang="da-DK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134586-3573-2878-1C8E-68154B8E01D3}"/>
              </a:ext>
            </a:extLst>
          </p:cNvPr>
          <p:cNvSpPr txBox="1"/>
          <p:nvPr/>
        </p:nvSpPr>
        <p:spPr>
          <a:xfrm>
            <a:off x="6238879" y="3584448"/>
            <a:ext cx="2990466" cy="2952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Projektstruktur</a:t>
            </a:r>
          </a:p>
          <a:p>
            <a:pPr algn="r"/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Opdelt arkitektur</a:t>
            </a: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Automatisk test</a:t>
            </a:r>
          </a:p>
          <a:p>
            <a:pPr lvl="2" algn="r">
              <a:lnSpc>
                <a:spcPct val="150000"/>
              </a:lnSpc>
            </a:pPr>
            <a:r>
              <a:rPr lang="da-DK" sz="12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FakeDeck</a:t>
            </a: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til tests</a:t>
            </a: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Deterministiske scenarier</a:t>
            </a: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Input-validering</a:t>
            </a:r>
          </a:p>
          <a:p>
            <a:pPr lvl="2" algn="r"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Klar adskillelse mellem spil og UI</a:t>
            </a:r>
          </a:p>
          <a:p>
            <a:pPr algn="r">
              <a:lnSpc>
                <a:spcPct val="150000"/>
              </a:lnSpc>
            </a:pP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0B260F2-F5F1-2C36-784E-BE4DC673495D}"/>
              </a:ext>
            </a:extLst>
          </p:cNvPr>
          <p:cNvCxnSpPr/>
          <p:nvPr/>
        </p:nvCxnSpPr>
        <p:spPr>
          <a:xfrm>
            <a:off x="5705856" y="3584448"/>
            <a:ext cx="0" cy="255117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B99FC-C4DC-2D5B-7479-CE813A1C8A7A}"/>
              </a:ext>
            </a:extLst>
          </p:cNvPr>
          <p:cNvSpPr/>
          <p:nvPr/>
        </p:nvSpPr>
        <p:spPr>
          <a:xfrm>
            <a:off x="-254506" y="3108960"/>
            <a:ext cx="12701012" cy="3651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6041F-F972-987E-FF03-93168D69CEE3}"/>
              </a:ext>
            </a:extLst>
          </p:cNvPr>
          <p:cNvSpPr txBox="1"/>
          <p:nvPr/>
        </p:nvSpPr>
        <p:spPr>
          <a:xfrm>
            <a:off x="1981201" y="3584448"/>
            <a:ext cx="2743200" cy="1627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Krav</a:t>
            </a:r>
          </a:p>
          <a:p>
            <a:endParaRPr lang="da-DK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Blackjack</a:t>
            </a:r>
          </a:p>
          <a:p>
            <a:pPr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Hit / Stand</a:t>
            </a:r>
          </a:p>
          <a:p>
            <a:pPr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Dealer til 17</a:t>
            </a:r>
          </a:p>
          <a:p>
            <a:pPr>
              <a:lnSpc>
                <a:spcPct val="150000"/>
              </a:lnSpc>
            </a:pPr>
            <a:r>
              <a:rPr lang="da-DK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Win / Lose / Push</a:t>
            </a:r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sz="3600" dirty="0"/>
              <a:t>Hvordan er projektet bygget?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 = Det visuelle, eller UI</a:t>
            </a:r>
          </a:p>
          <a:p>
            <a:pPr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Core = Selve spillet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Tests = Automatiske tests</a:t>
            </a:r>
          </a:p>
          <a:p>
            <a:pPr rtl="0">
              <a:lnSpc>
                <a:spcPct val="150000"/>
              </a:lnSpc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 Responsibility Principle</a:t>
            </a:r>
          </a:p>
        </p:txBody>
      </p:sp>
      <p:sp>
        <p:nvSpPr>
          <p:cNvPr id="11" name="Pladsholder til dato 10">
            <a:extLst>
              <a:ext uri="{FF2B5EF4-FFF2-40B4-BE49-F238E27FC236}">
                <a16:creationId xmlns:a16="http://schemas.microsoft.com/office/drawing/2014/main" id="{5837F6CC-F87E-4BF6-9EFE-DA537BAB6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12" name="Pladsholder til sidefod 11">
            <a:extLst>
              <a:ext uri="{FF2B5EF4-FFF2-40B4-BE49-F238E27FC236}">
                <a16:creationId xmlns:a16="http://schemas.microsoft.com/office/drawing/2014/main" id="{E80EA4A2-4719-41C0-949E-AF9166CA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3" name="Pladsholder til slidenummer 12">
            <a:extLst>
              <a:ext uri="{FF2B5EF4-FFF2-40B4-BE49-F238E27FC236}">
                <a16:creationId xmlns:a16="http://schemas.microsoft.com/office/drawing/2014/main" id="{E97A1D68-0269-4F8D-8A4E-B8D9753C7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4</a:t>
            </a:fld>
            <a:endParaRPr lang="da-DK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08F0A8-0332-7AD7-578E-294705842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58" y="1011180"/>
            <a:ext cx="3181794" cy="538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871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A6F7BB-30A8-4980-AD4A-2FB0B53F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a-DK" dirty="0"/>
              <a:t>De vigtige tekniske valg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00F5E8E-AA23-4F53-A19C-6F6BA70BDA9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155876" y="2216149"/>
            <a:ext cx="2105186" cy="365125"/>
          </a:xfrm>
        </p:spPr>
        <p:txBody>
          <a:bodyPr rtlCol="0">
            <a:noAutofit/>
          </a:bodyPr>
          <a:lstStyle/>
          <a:p>
            <a:pPr rtl="0"/>
            <a:r>
              <a:rPr lang="da-DK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Adskillelse af logik og det visuelle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2240B2F9-E3CD-4790-A034-A2B55659D6C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2155876" y="3063875"/>
            <a:ext cx="2105186" cy="365125"/>
          </a:xfrm>
        </p:spPr>
        <p:txBody>
          <a:bodyPr rtlCol="0">
            <a:noAutofit/>
          </a:bodyPr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Alt i CLI kan ændres efter ønske</a:t>
            </a:r>
          </a:p>
        </p:txBody>
      </p:sp>
      <p:sp>
        <p:nvSpPr>
          <p:cNvPr id="17" name="Pladsholder til tekst 16">
            <a:extLst>
              <a:ext uri="{FF2B5EF4-FFF2-40B4-BE49-F238E27FC236}">
                <a16:creationId xmlns:a16="http://schemas.microsoft.com/office/drawing/2014/main" id="{8FF7F565-6C73-467A-AD66-158FB42A6A89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4705549" y="2216149"/>
            <a:ext cx="2105186" cy="365125"/>
          </a:xfrm>
        </p:spPr>
        <p:txBody>
          <a:bodyPr rtlCol="0"/>
          <a:lstStyle/>
          <a:p>
            <a:pPr rtl="0"/>
            <a:r>
              <a:rPr lang="da-DK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Automatiske tests</a:t>
            </a:r>
            <a:endParaRPr lang="da-DK" dirty="0"/>
          </a:p>
        </p:txBody>
      </p:sp>
      <p:sp>
        <p:nvSpPr>
          <p:cNvPr id="18" name="Pladsholder til tekst 17">
            <a:extLst>
              <a:ext uri="{FF2B5EF4-FFF2-40B4-BE49-F238E27FC236}">
                <a16:creationId xmlns:a16="http://schemas.microsoft.com/office/drawing/2014/main" id="{99247289-DB03-4DFD-86B5-D0ACB05A79C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705549" y="3054981"/>
            <a:ext cx="2105186" cy="365125"/>
          </a:xfrm>
        </p:spPr>
        <p:txBody>
          <a:bodyPr rtlCol="0">
            <a:noAutofit/>
          </a:bodyPr>
          <a:lstStyle/>
          <a:p>
            <a:pPr rtl="0"/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MSTest</a:t>
            </a: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bruges for at køre tests</a:t>
            </a:r>
          </a:p>
        </p:txBody>
      </p:sp>
      <p:sp>
        <p:nvSpPr>
          <p:cNvPr id="19" name="Pladsholder til tekst 18">
            <a:extLst>
              <a:ext uri="{FF2B5EF4-FFF2-40B4-BE49-F238E27FC236}">
                <a16:creationId xmlns:a16="http://schemas.microsoft.com/office/drawing/2014/main" id="{FE81C04D-9802-4217-A4CF-6425CA89028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255222" y="2216149"/>
            <a:ext cx="2105186" cy="365125"/>
          </a:xfrm>
        </p:spPr>
        <p:txBody>
          <a:bodyPr rtlCol="0"/>
          <a:lstStyle/>
          <a:p>
            <a:pPr rtl="0"/>
            <a:r>
              <a:rPr lang="da-DK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FakeDeck</a:t>
            </a:r>
            <a:endParaRPr lang="da-DK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" name="Pladsholder til tekst 19">
            <a:extLst>
              <a:ext uri="{FF2B5EF4-FFF2-40B4-BE49-F238E27FC236}">
                <a16:creationId xmlns:a16="http://schemas.microsoft.com/office/drawing/2014/main" id="{17482830-A464-43C1-8765-91A33F89F87C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7255222" y="3054981"/>
            <a:ext cx="2217962" cy="575187"/>
          </a:xfrm>
        </p:spPr>
        <p:txBody>
          <a:bodyPr rtlCol="0">
            <a:normAutofit/>
          </a:bodyPr>
          <a:lstStyle/>
          <a:p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Specifikke kortrækkefølger</a:t>
            </a:r>
          </a:p>
        </p:txBody>
      </p:sp>
      <p:sp>
        <p:nvSpPr>
          <p:cNvPr id="61" name="Pladsholder til dato 60">
            <a:extLst>
              <a:ext uri="{FF2B5EF4-FFF2-40B4-BE49-F238E27FC236}">
                <a16:creationId xmlns:a16="http://schemas.microsoft.com/office/drawing/2014/main" id="{C5E86CA3-CC65-4085-BCDC-93141EBD2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62" name="Pladsholder til sidefod 61">
            <a:extLst>
              <a:ext uri="{FF2B5EF4-FFF2-40B4-BE49-F238E27FC236}">
                <a16:creationId xmlns:a16="http://schemas.microsoft.com/office/drawing/2014/main" id="{C1BA4316-79F5-4E35-B754-FEEFC06C1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63" name="Pladsholder til slidenummer 62">
            <a:extLst>
              <a:ext uri="{FF2B5EF4-FFF2-40B4-BE49-F238E27FC236}">
                <a16:creationId xmlns:a16="http://schemas.microsoft.com/office/drawing/2014/main" id="{22B5CBBF-FB43-46F2-8846-3DF85C26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5</a:t>
            </a:fld>
            <a:endParaRPr lang="da-DK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606C2B-E6D7-96AC-EF4B-AB2866C11809}"/>
              </a:ext>
            </a:extLst>
          </p:cNvPr>
          <p:cNvSpPr/>
          <p:nvPr/>
        </p:nvSpPr>
        <p:spPr>
          <a:xfrm>
            <a:off x="-254506" y="1508125"/>
            <a:ext cx="12701012" cy="18256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77453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A6F7BB-30A8-4980-AD4A-2FB0B53FA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037"/>
            <a:ext cx="5860774" cy="1325563"/>
          </a:xfrm>
        </p:spPr>
        <p:txBody>
          <a:bodyPr rtlCol="0"/>
          <a:lstStyle/>
          <a:p>
            <a:pPr rtl="0"/>
            <a:r>
              <a:rPr lang="da-DK" dirty="0"/>
              <a:t>Unit tests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87EA335-59AB-41C6-9DC4-FB6271C6FA5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Test Methods</a:t>
            </a:r>
          </a:p>
          <a:p>
            <a:pPr rtl="0"/>
            <a:endParaRPr lang="da-DK" dirty="0">
              <a:solidFill>
                <a:schemeClr val="accent1">
                  <a:lumMod val="50000"/>
                </a:schemeClr>
              </a:solidFill>
            </a:endParaRPr>
          </a:p>
          <a:p>
            <a:pPr rtl="0"/>
            <a:endParaRPr lang="da-DK" dirty="0">
              <a:solidFill>
                <a:schemeClr val="accent1">
                  <a:lumMod val="50000"/>
                </a:schemeClr>
              </a:solidFill>
            </a:endParaRPr>
          </a:p>
          <a:p>
            <a:pPr rtl="0"/>
            <a:endParaRPr lang="da-DK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3CB713CD-9676-4C62-A54C-4E083C8AC874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dirty="0" err="1"/>
              <a:t>MSTest</a:t>
            </a:r>
            <a:endParaRPr lang="da-DK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D449393-01D5-4ED7-BB16-BBF3495F4E5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 rtlCol="0">
            <a:normAutofit/>
          </a:bodyPr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Bust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7EC3D3BC-6B13-4732-B281-0DC87654555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rtlCol="0">
            <a:noAutofit/>
          </a:bodyPr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Tab ved overskridelse af 21</a:t>
            </a:r>
          </a:p>
        </p:txBody>
      </p:sp>
      <p:sp>
        <p:nvSpPr>
          <p:cNvPr id="7" name="Pladsholder til tekst 6">
            <a:extLst>
              <a:ext uri="{FF2B5EF4-FFF2-40B4-BE49-F238E27FC236}">
                <a16:creationId xmlns:a16="http://schemas.microsoft.com/office/drawing/2014/main" id="{697AF928-B2C0-4872-9F06-CDCC8E9FD34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Dealer Draw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205ED549-D3DC-4637-81DC-119A688806E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 rtlCol="0"/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Stopper ved 17</a:t>
            </a:r>
          </a:p>
        </p:txBody>
      </p:sp>
      <p:sp>
        <p:nvSpPr>
          <p:cNvPr id="9" name="Pladsholder til tekst 8">
            <a:extLst>
              <a:ext uri="{FF2B5EF4-FFF2-40B4-BE49-F238E27FC236}">
                <a16:creationId xmlns:a16="http://schemas.microsoft.com/office/drawing/2014/main" id="{EA278329-9C36-4C21-9979-4D5224D17DF6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Ace Value</a:t>
            </a:r>
          </a:p>
          <a:p>
            <a:pPr rtl="0"/>
            <a:endParaRPr lang="da-DK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180E310F-5240-442A-B86E-74D6D9AE5CB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 rtlCol="0"/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eller 11</a:t>
            </a:r>
          </a:p>
        </p:txBody>
      </p:sp>
      <p:sp>
        <p:nvSpPr>
          <p:cNvPr id="11" name="Pladsholder til tekst 10">
            <a:extLst>
              <a:ext uri="{FF2B5EF4-FFF2-40B4-BE49-F238E27FC236}">
                <a16:creationId xmlns:a16="http://schemas.microsoft.com/office/drawing/2014/main" id="{35224851-6D42-4702-BA6E-1D6E311B0FC5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Hand Value</a:t>
            </a:r>
          </a:p>
        </p:txBody>
      </p:sp>
      <p:sp>
        <p:nvSpPr>
          <p:cNvPr id="12" name="Pladsholder til tekst 11">
            <a:extLst>
              <a:ext uri="{FF2B5EF4-FFF2-40B4-BE49-F238E27FC236}">
                <a16:creationId xmlns:a16="http://schemas.microsoft.com/office/drawing/2014/main" id="{9BD05CD9-9178-4189-85F6-5C1BE011C475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 rtlCol="0"/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Tælles kort korrekt</a:t>
            </a:r>
          </a:p>
        </p:txBody>
      </p:sp>
      <p:sp>
        <p:nvSpPr>
          <p:cNvPr id="13" name="Pladsholder til tekst 12">
            <a:extLst>
              <a:ext uri="{FF2B5EF4-FFF2-40B4-BE49-F238E27FC236}">
                <a16:creationId xmlns:a16="http://schemas.microsoft.com/office/drawing/2014/main" id="{98025CA1-4574-4771-839A-BA094C716F25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Draw / Push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6E8C3BBA-7ADE-4673-B1C0-F82A24EC45E9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 rtlCol="0">
            <a:normAutofit fontScale="92500" lnSpcReduction="20000"/>
          </a:bodyPr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Ingen </a:t>
            </a:r>
            <a:r>
              <a:rPr lang="da-DK" sz="13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vinder</a:t>
            </a: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hvis begge får 21</a:t>
            </a:r>
          </a:p>
        </p:txBody>
      </p:sp>
      <p:sp>
        <p:nvSpPr>
          <p:cNvPr id="93" name="Pladsholder til dato 92">
            <a:extLst>
              <a:ext uri="{FF2B5EF4-FFF2-40B4-BE49-F238E27FC236}">
                <a16:creationId xmlns:a16="http://schemas.microsoft.com/office/drawing/2014/main" id="{3AC5835A-784B-4C88-A45F-7E8D3F44A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94" name="Pladsholder til sidefod 93">
            <a:extLst>
              <a:ext uri="{FF2B5EF4-FFF2-40B4-BE49-F238E27FC236}">
                <a16:creationId xmlns:a16="http://schemas.microsoft.com/office/drawing/2014/main" id="{50D83CAC-5CC8-48FB-9901-0AE1FB079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95" name="Pladsholder til slidenummer 94">
            <a:extLst>
              <a:ext uri="{FF2B5EF4-FFF2-40B4-BE49-F238E27FC236}">
                <a16:creationId xmlns:a16="http://schemas.microsoft.com/office/drawing/2014/main" id="{D540D638-BFEC-45F4-AEB5-32A531833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6</a:t>
            </a:fld>
            <a:endParaRPr lang="da-DK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5E853E-0E28-6FB9-635A-A67C0ADA886F}"/>
              </a:ext>
            </a:extLst>
          </p:cNvPr>
          <p:cNvSpPr/>
          <p:nvPr/>
        </p:nvSpPr>
        <p:spPr>
          <a:xfrm>
            <a:off x="-276278" y="1639585"/>
            <a:ext cx="12701012" cy="18256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96266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0F102-8ED9-FF3A-12EC-42428D67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457" y="819334"/>
            <a:ext cx="4071258" cy="1325563"/>
          </a:xfrm>
        </p:spPr>
        <p:txBody>
          <a:bodyPr/>
          <a:lstStyle/>
          <a:p>
            <a:r>
              <a:rPr lang="da-DK" dirty="0"/>
              <a:t>Code </a:t>
            </a:r>
            <a:r>
              <a:rPr lang="da-DK" dirty="0" err="1"/>
              <a:t>Snippets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4E306-B6AE-F303-10CE-544D6954C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9017" y="2941971"/>
            <a:ext cx="4334689" cy="474211"/>
          </a:xfrm>
        </p:spPr>
        <p:txBody>
          <a:bodyPr/>
          <a:lstStyle/>
          <a:p>
            <a:r>
              <a:rPr lang="da-DK" dirty="0"/>
              <a:t>Es logik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677CBC-8BFC-889C-340A-3A63EC89592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936533" y="729171"/>
            <a:ext cx="4334689" cy="474211"/>
          </a:xfrm>
        </p:spPr>
        <p:txBody>
          <a:bodyPr/>
          <a:lstStyle/>
          <a:p>
            <a:r>
              <a:rPr lang="da-DK" dirty="0"/>
              <a:t>Testbarhed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3449FB8-C270-DC6B-9DEC-6C72B80946CD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tretch>
            <a:fillRect/>
          </a:stretch>
        </p:blipFill>
        <p:spPr>
          <a:xfrm>
            <a:off x="1599017" y="3429000"/>
            <a:ext cx="5186138" cy="2677427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6CB757E-5D15-429E-A8FB-F1AFB4B4B10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 dirty="0"/>
              <a:t>13/02/2026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74FE63B-4CA7-FECF-8A21-662053B7B6F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6CAD005-FB9E-94F8-D647-F871001CF25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rtl="0"/>
            <a:fld id="{B5CEABB6-07DC-46E8-9B57-56EC44A396E5}" type="slidenum">
              <a:rPr lang="da-DK" noProof="0" smtClean="0"/>
              <a:pPr rtl="0"/>
              <a:t>7</a:t>
            </a:fld>
            <a:endParaRPr lang="da-DK" noProof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1CE54C8-8DE3-867C-5930-C59FF2811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6533" y="1261148"/>
            <a:ext cx="2734964" cy="15715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F4E4951-3776-1C4F-318A-15CA260E64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6533" y="2957519"/>
            <a:ext cx="5111680" cy="314890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047FFC6-ADA2-20D4-ACE7-3FEE115DE6FD}"/>
              </a:ext>
            </a:extLst>
          </p:cNvPr>
          <p:cNvCxnSpPr>
            <a:cxnSpLocks/>
          </p:cNvCxnSpPr>
          <p:nvPr/>
        </p:nvCxnSpPr>
        <p:spPr>
          <a:xfrm>
            <a:off x="6849163" y="819334"/>
            <a:ext cx="0" cy="5287093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D8625E-531E-F21D-0D5D-C56DCCBFD23C}"/>
              </a:ext>
            </a:extLst>
          </p:cNvPr>
          <p:cNvCxnSpPr/>
          <p:nvPr/>
        </p:nvCxnSpPr>
        <p:spPr>
          <a:xfrm>
            <a:off x="1599017" y="2957519"/>
            <a:ext cx="5250146" cy="0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0435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1CD0EE9B-0DA0-CDFE-DB00-4DB274141B1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47559" y="2298699"/>
            <a:ext cx="4114800" cy="4167062"/>
          </a:xfrm>
          <a:prstGeom prst="rect">
            <a:avLst/>
          </a:prstGeom>
          <a:solidFill>
            <a:schemeClr val="accent4"/>
          </a:solidFill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934568E-148B-C9F5-96F8-B328C4341C7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0"/>
          </a:blip>
          <a:stretch>
            <a:fillRect/>
          </a:stretch>
        </p:blipFill>
        <p:spPr>
          <a:xfrm>
            <a:off x="3095849" y="3102190"/>
            <a:ext cx="4564311" cy="2167129"/>
          </a:xfrm>
          <a:prstGeom prst="rect">
            <a:avLst/>
          </a:prstGeom>
          <a:solidFill>
            <a:schemeClr val="accent4"/>
          </a:solidFill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FC4A9BF-5051-CF7E-FDBD-02FB15175C4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0"/>
          </a:blip>
          <a:stretch>
            <a:fillRect/>
          </a:stretch>
        </p:blipFill>
        <p:spPr>
          <a:xfrm>
            <a:off x="41843" y="3086535"/>
            <a:ext cx="2987321" cy="3771465"/>
          </a:xfrm>
          <a:prstGeom prst="rect">
            <a:avLst/>
          </a:prstGeom>
          <a:solidFill>
            <a:schemeClr val="accent4"/>
          </a:solidFill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D8905CA-EA71-6873-8076-BC6039995A0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10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844" y="2298699"/>
            <a:ext cx="7717856" cy="803492"/>
          </a:xfrm>
          <a:prstGeom prst="rect">
            <a:avLst/>
          </a:prstGeom>
          <a:solidFill>
            <a:schemeClr val="accent4"/>
          </a:solidFill>
        </p:spPr>
      </p:pic>
      <p:sp>
        <p:nvSpPr>
          <p:cNvPr id="18" name="Titel 1">
            <a:extLst>
              <a:ext uri="{FF2B5EF4-FFF2-40B4-BE49-F238E27FC236}">
                <a16:creationId xmlns:a16="http://schemas.microsoft.com/office/drawing/2014/main" id="{5830CB13-4963-4D83-3314-FFA0BD8D830D}"/>
              </a:ext>
            </a:extLst>
          </p:cNvPr>
          <p:cNvSpPr txBox="1">
            <a:spLocks/>
          </p:cNvSpPr>
          <p:nvPr/>
        </p:nvSpPr>
        <p:spPr>
          <a:xfrm>
            <a:off x="838200" y="39223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Coverage Report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16A52A79-2264-253E-FCEE-8BB999DF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rtlCol="0"/>
          <a:lstStyle/>
          <a:p>
            <a:pPr rtl="0"/>
            <a:r>
              <a:rPr lang="da-DK" dirty="0">
                <a:solidFill>
                  <a:schemeClr val="accent3"/>
                </a:solidFill>
              </a:rPr>
              <a:t>Coverage Report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F014DC0-5B5D-DC59-092E-88AD8FF85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dirty="0"/>
              <a:t>13/02/2026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757B6EFD-76C5-AE45-7B82-1C1042B47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25D2455-B152-7934-C940-69D3408AE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da-DK" noProof="0" smtClean="0"/>
              <a:pPr rtl="0"/>
              <a:t>8</a:t>
            </a:fld>
            <a:endParaRPr lang="da-DK" noProof="0"/>
          </a:p>
        </p:txBody>
      </p:sp>
      <p:pic>
        <p:nvPicPr>
          <p:cNvPr id="21" name="Picture 20" descr="Hånd logik, IReadOnlyList bruges til at beskytte domænemodellen. Tests er allerede trusted code, så der er ingen grund til at beskytte dem mod sig selv.">
            <a:extLst>
              <a:ext uri="{FF2B5EF4-FFF2-40B4-BE49-F238E27FC236}">
                <a16:creationId xmlns:a16="http://schemas.microsoft.com/office/drawing/2014/main" id="{150856E5-D43D-575B-4908-BC60910F2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243" y="2358570"/>
            <a:ext cx="3980065" cy="3997780"/>
          </a:xfrm>
          <a:prstGeom prst="rect">
            <a:avLst/>
          </a:prstGeom>
        </p:spPr>
      </p:pic>
      <p:pic>
        <p:nvPicPr>
          <p:cNvPr id="25" name="Picture 24" descr="Kort logik, Suit tages ikke med i test da det bestemmes på forhånd">
            <a:extLst>
              <a:ext uri="{FF2B5EF4-FFF2-40B4-BE49-F238E27FC236}">
                <a16:creationId xmlns:a16="http://schemas.microsoft.com/office/drawing/2014/main" id="{F24F3254-7D25-4E45-6D30-B63AF75CAC7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3248" y="3102191"/>
            <a:ext cx="4422369" cy="209160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03B507D-FC40-3BD4-5F0F-81983AB648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29" y="2358570"/>
            <a:ext cx="7605988" cy="668094"/>
          </a:xfrm>
          <a:prstGeom prst="rect">
            <a:avLst/>
          </a:prstGeom>
        </p:spPr>
      </p:pic>
      <p:pic>
        <p:nvPicPr>
          <p:cNvPr id="30" name="Picture 29" descr="Shuffle og Deck logik med fisher yates model, bruges ikke i test grundet FakeDeck">
            <a:extLst>
              <a:ext uri="{FF2B5EF4-FFF2-40B4-BE49-F238E27FC236}">
                <a16:creationId xmlns:a16="http://schemas.microsoft.com/office/drawing/2014/main" id="{892072B7-D54F-8C9A-C797-1CEC6E9589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29" y="3102191"/>
            <a:ext cx="2866094" cy="36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625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/>
            </a:gs>
            <a:gs pos="39000">
              <a:schemeClr val="accent4">
                <a:lumMod val="66000"/>
                <a:lumOff val="34000"/>
              </a:schemeClr>
            </a:gs>
            <a:gs pos="72000">
              <a:schemeClr val="accent4">
                <a:lumMod val="60000"/>
                <a:lumOff val="40000"/>
              </a:schemeClr>
            </a:gs>
            <a:gs pos="89000">
              <a:schemeClr val="accent4">
                <a:lumMod val="46000"/>
                <a:lumOff val="54000"/>
              </a:schemeClr>
            </a:gs>
            <a:gs pos="100000">
              <a:schemeClr val="accent4">
                <a:lumMod val="40000"/>
                <a:lumOff val="60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91CFAB-A735-4A31-A51D-42FE1F5E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da-DK" dirty="0"/>
              <a:t>Arbejdsproces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8421587F-8DFD-4A31-9931-8A346A92D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da-DK" dirty="0"/>
              <a:t>Kode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B1E4DE8-F909-4081-9F20-474940922923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 rtlCol="0"/>
          <a:lstStyle/>
          <a:p>
            <a:pPr rtl="0"/>
            <a:r>
              <a:rPr lang="da-DK" dirty="0"/>
              <a:t>Dokumentation 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B411EEF9-4CD0-4C5D-AA3F-A7E039366643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 rtlCol="0"/>
          <a:lstStyle/>
          <a:p>
            <a:pPr rtl="0"/>
            <a:r>
              <a:rPr lang="da-DK" dirty="0"/>
              <a:t>Tests</a:t>
            </a:r>
          </a:p>
        </p:txBody>
      </p:sp>
      <p:sp>
        <p:nvSpPr>
          <p:cNvPr id="8" name="Pladsholder til indhold 7">
            <a:extLst>
              <a:ext uri="{FF2B5EF4-FFF2-40B4-BE49-F238E27FC236}">
                <a16:creationId xmlns:a16="http://schemas.microsoft.com/office/drawing/2014/main" id="{12CCD16A-B1A1-4FC6-94F4-823076E7E72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 rtlCol="0"/>
          <a:lstStyle/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Struktur først</a:t>
            </a: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Spilregler</a:t>
            </a: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Game engine</a:t>
            </a: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UI</a:t>
            </a:r>
          </a:p>
        </p:txBody>
      </p:sp>
      <p:sp>
        <p:nvSpPr>
          <p:cNvPr id="9" name="Pladsholder til indhold 8">
            <a:extLst>
              <a:ext uri="{FF2B5EF4-FFF2-40B4-BE49-F238E27FC236}">
                <a16:creationId xmlns:a16="http://schemas.microsoft.com/office/drawing/2014/main" id="{05ADB6C6-1D18-4340-A5EF-7A4038798E1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rtlCol="0"/>
          <a:lstStyle/>
          <a:p>
            <a:pPr rtl="0"/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Tidsregistration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Fremgangsmåde</a:t>
            </a:r>
          </a:p>
        </p:txBody>
      </p:sp>
      <p:sp>
        <p:nvSpPr>
          <p:cNvPr id="10" name="Pladsholder til indhold 9">
            <a:extLst>
              <a:ext uri="{FF2B5EF4-FFF2-40B4-BE49-F238E27FC236}">
                <a16:creationId xmlns:a16="http://schemas.microsoft.com/office/drawing/2014/main" id="{EC9DABE2-9B69-4D86-AFBB-CBEB8E957E7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024740" y="4920343"/>
            <a:ext cx="4246851" cy="1219201"/>
          </a:xfrm>
        </p:spPr>
        <p:txBody>
          <a:bodyPr rtlCol="0">
            <a:normAutofit/>
          </a:bodyPr>
          <a:lstStyle/>
          <a:p>
            <a:pPr rtl="0"/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Dependencies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Coverage </a:t>
            </a:r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report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rtl="0"/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Hard-</a:t>
            </a:r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Coded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8" name="Pladsholder til dato 47">
            <a:extLst>
              <a:ext uri="{FF2B5EF4-FFF2-40B4-BE49-F238E27FC236}">
                <a16:creationId xmlns:a16="http://schemas.microsoft.com/office/drawing/2014/main" id="{9F0F90AF-D03D-4A81-B9BF-B3263897031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49" name="Pladsholder til sidefod 48">
            <a:extLst>
              <a:ext uri="{FF2B5EF4-FFF2-40B4-BE49-F238E27FC236}">
                <a16:creationId xmlns:a16="http://schemas.microsoft.com/office/drawing/2014/main" id="{7761BB44-2A96-4AC0-9DB6-13C710983FA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50" name="Pladsholder til slidenummer 49">
            <a:extLst>
              <a:ext uri="{FF2B5EF4-FFF2-40B4-BE49-F238E27FC236}">
                <a16:creationId xmlns:a16="http://schemas.microsoft.com/office/drawing/2014/main" id="{84B61B7E-5114-4B02-895E-18609706A12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911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el 1">
            <a:extLst>
              <a:ext uri="{FF2B5EF4-FFF2-40B4-BE49-F238E27FC236}">
                <a16:creationId xmlns:a16="http://schemas.microsoft.com/office/drawing/2014/main" id="{47C57BC2-D2D3-86A9-8E26-77B1EE32D859}"/>
              </a:ext>
            </a:extLst>
          </p:cNvPr>
          <p:cNvSpPr txBox="1">
            <a:spLocks/>
          </p:cNvSpPr>
          <p:nvPr/>
        </p:nvSpPr>
        <p:spPr>
          <a:xfrm>
            <a:off x="838200" y="39223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>
                <a:solidFill>
                  <a:schemeClr val="accent1">
                    <a:lumMod val="50000"/>
                  </a:schemeClr>
                </a:solidFill>
              </a:rPr>
              <a:t>Demo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858D11-56D8-03FE-009E-E6C9411A87EC}"/>
              </a:ext>
            </a:extLst>
          </p:cNvPr>
          <p:cNvSpPr/>
          <p:nvPr/>
        </p:nvSpPr>
        <p:spPr>
          <a:xfrm>
            <a:off x="3136392" y="2020824"/>
            <a:ext cx="5907024" cy="44074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a-DK" dirty="0">
                <a:solidFill>
                  <a:schemeClr val="accent3"/>
                </a:solidFill>
              </a:rPr>
              <a:t>Demo</a:t>
            </a:r>
          </a:p>
        </p:txBody>
      </p:sp>
      <p:sp>
        <p:nvSpPr>
          <p:cNvPr id="113" name="Pladsholder til dato 112">
            <a:extLst>
              <a:ext uri="{FF2B5EF4-FFF2-40B4-BE49-F238E27FC236}">
                <a16:creationId xmlns:a16="http://schemas.microsoft.com/office/drawing/2014/main" id="{7E8EF87C-1B5A-4A25-A610-FF5D18E26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114" name="Pladsholder til sidefod 113">
            <a:extLst>
              <a:ext uri="{FF2B5EF4-FFF2-40B4-BE49-F238E27FC236}">
                <a16:creationId xmlns:a16="http://schemas.microsoft.com/office/drawing/2014/main" id="{E1B2A7C1-7EE4-45F0-B54C-188E1133A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15" name="Pladsholder til slidenummer 114">
            <a:extLst>
              <a:ext uri="{FF2B5EF4-FFF2-40B4-BE49-F238E27FC236}">
                <a16:creationId xmlns:a16="http://schemas.microsoft.com/office/drawing/2014/main" id="{47C21FD0-6144-422A-9727-F3249A6B5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10</a:t>
            </a:fld>
            <a:endParaRPr lang="da-DK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318B8C4-A605-DAE8-1A58-53D0CB1F72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43124" b="19201"/>
          <a:stretch>
            <a:fillRect/>
          </a:stretch>
        </p:blipFill>
        <p:spPr>
          <a:xfrm>
            <a:off x="3220726" y="2085891"/>
            <a:ext cx="5750548" cy="4270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da-DK" dirty="0"/>
              <a:t>Hvad lærte jeg?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33634FE-ADF0-4BC3-A0A9-447EA9DD0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da-DK" dirty="0"/>
              <a:t>Brug af </a:t>
            </a:r>
            <a:r>
              <a:rPr lang="da-DK" dirty="0" err="1"/>
              <a:t>MSTest</a:t>
            </a:r>
            <a:endParaRPr lang="da-DK" dirty="0"/>
          </a:p>
          <a:p>
            <a:pPr rtl="0"/>
            <a:r>
              <a:rPr lang="da-DK" dirty="0"/>
              <a:t>Coverage Reports</a:t>
            </a:r>
          </a:p>
          <a:p>
            <a:pPr rtl="0"/>
            <a:r>
              <a:rPr lang="da-DK" dirty="0"/>
              <a:t>Planlægning</a:t>
            </a:r>
          </a:p>
          <a:p>
            <a:pPr rtl="0"/>
            <a:r>
              <a:rPr lang="da-DK" dirty="0"/>
              <a:t>Struktur</a:t>
            </a:r>
          </a:p>
          <a:p>
            <a:pPr rtl="0"/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93C0990-DED4-43F9-8B0F-41ABFD53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F344BF2-756E-40EF-B839-C3DBB55BE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EF4E4AC-866E-41A9-AD13-857054D90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FFA191-5CCC-43CB-BD83-4F80ED362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a-DK" dirty="0"/>
              <a:t>Begrænsninger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14BBEAF-B516-45F4-9EF6-A9F651115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3480" y="4879291"/>
            <a:ext cx="5684520" cy="1477059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 marL="0" indent="0" rtl="0">
              <a:buNone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Ønskede tilføjelser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Betting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Split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Statistik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Grafisk interface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a-DK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Multiplayer / </a:t>
            </a:r>
            <a:r>
              <a:rPr lang="da-DK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Bots</a:t>
            </a:r>
            <a:endParaRPr lang="da-DK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D0A31818-326D-4287-B1AE-435C12F07B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4296" y="6356350"/>
            <a:ext cx="2743200" cy="365125"/>
          </a:xfrm>
        </p:spPr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1317DFAA-582C-42B0-90C4-9DAA9C139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3942E2BA-3D9C-4A41-A42E-C08CE009D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r>
              <a:rPr lang="da-DK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20173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313571"/>
            <a:ext cx="4419600" cy="1659716"/>
          </a:xfrm>
        </p:spPr>
        <p:txBody>
          <a:bodyPr rtlCol="0"/>
          <a:lstStyle/>
          <a:p>
            <a:pPr rtl="0"/>
            <a:r>
              <a:rPr lang="da-DK" dirty="0"/>
              <a:t>Tak</a:t>
            </a:r>
          </a:p>
        </p:txBody>
      </p:sp>
      <p:sp>
        <p:nvSpPr>
          <p:cNvPr id="10" name="Pladsholder til dato 9">
            <a:extLst>
              <a:ext uri="{FF2B5EF4-FFF2-40B4-BE49-F238E27FC236}">
                <a16:creationId xmlns:a16="http://schemas.microsoft.com/office/drawing/2014/main" id="{EE046113-1034-4F4B-8AED-98885E8F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r>
              <a:rPr lang="da-DK" dirty="0"/>
              <a:t>13/02/2026</a:t>
            </a:r>
          </a:p>
        </p:txBody>
      </p:sp>
      <p:sp>
        <p:nvSpPr>
          <p:cNvPr id="11" name="Pladsholder til sidefod 10">
            <a:extLst>
              <a:ext uri="{FF2B5EF4-FFF2-40B4-BE49-F238E27FC236}">
                <a16:creationId xmlns:a16="http://schemas.microsoft.com/office/drawing/2014/main" id="{1BD5936D-597B-433D-BAF2-72206FECA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r>
              <a:rPr lang="da-DK" dirty="0"/>
              <a:t>Specialisterne Projekt Præsentation</a:t>
            </a:r>
          </a:p>
        </p:txBody>
      </p:sp>
      <p:sp>
        <p:nvSpPr>
          <p:cNvPr id="12" name="Pladsholder til slidenummer 11">
            <a:extLst>
              <a:ext uri="{FF2B5EF4-FFF2-40B4-BE49-F238E27FC236}">
                <a16:creationId xmlns:a16="http://schemas.microsoft.com/office/drawing/2014/main" id="{2257BCF9-933D-4329-B564-4E404B1CA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da-DK" smtClean="0"/>
              <a:pPr rtl="0"/>
              <a:t>13</a:t>
            </a:fld>
            <a:endParaRPr lang="da-DK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DEF5F62A-066C-EB7D-0BF6-2D1411416EF4}"/>
              </a:ext>
            </a:extLst>
          </p:cNvPr>
          <p:cNvSpPr txBox="1">
            <a:spLocks/>
          </p:cNvSpPr>
          <p:nvPr/>
        </p:nvSpPr>
        <p:spPr>
          <a:xfrm>
            <a:off x="6934200" y="2313571"/>
            <a:ext cx="4419600" cy="16597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dirty="0">
                <a:solidFill>
                  <a:schemeClr val="bg1"/>
                </a:solidFill>
              </a:rPr>
              <a:t>Spørgsmål?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C762316-478B-1BBC-86CE-0A360D1599EE}"/>
              </a:ext>
            </a:extLst>
          </p:cNvPr>
          <p:cNvCxnSpPr/>
          <p:nvPr/>
        </p:nvCxnSpPr>
        <p:spPr>
          <a:xfrm>
            <a:off x="6096000" y="3584448"/>
            <a:ext cx="5257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A96D2DF-C767-4861-0284-56C3051A0DD7}"/>
              </a:ext>
            </a:extLst>
          </p:cNvPr>
          <p:cNvCxnSpPr/>
          <p:nvPr/>
        </p:nvCxnSpPr>
        <p:spPr>
          <a:xfrm>
            <a:off x="838200" y="3584448"/>
            <a:ext cx="5257800" cy="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9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Custom 4">
      <a:dk1>
        <a:sysClr val="windowText" lastClr="000000"/>
      </a:dk1>
      <a:lt1>
        <a:srgbClr val="FFFFFF"/>
      </a:lt1>
      <a:dk2>
        <a:srgbClr val="44546A"/>
      </a:dk2>
      <a:lt2>
        <a:srgbClr val="E7E6E6"/>
      </a:lt2>
      <a:accent1>
        <a:srgbClr val="CACAE8"/>
      </a:accent1>
      <a:accent2>
        <a:srgbClr val="A0DADE"/>
      </a:accent2>
      <a:accent3>
        <a:srgbClr val="FFFFFF"/>
      </a:accent3>
      <a:accent4>
        <a:srgbClr val="29285D"/>
      </a:accent4>
      <a:accent5>
        <a:srgbClr val="EDF1F2"/>
      </a:accent5>
      <a:accent6>
        <a:srgbClr val="9769CA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196_TF03460514_Win32" id="{81CDC880-C1B4-488D-8D8E-46152856880F}" vid="{26FB2867-00FC-41C3-B7D2-87A499F79283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715</Words>
  <Application>Microsoft Office PowerPoint</Application>
  <PresentationFormat>Widescreen</PresentationFormat>
  <Paragraphs>196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ADLaM Display</vt:lpstr>
      <vt:lpstr>Arial</vt:lpstr>
      <vt:lpstr>Calibri</vt:lpstr>
      <vt:lpstr>Skeena</vt:lpstr>
      <vt:lpstr>Times New Roman</vt:lpstr>
      <vt:lpstr>Office-tema</vt:lpstr>
      <vt:lpstr>Blackjack i C# - Oversigt</vt:lpstr>
      <vt:lpstr>Hvad er projektet?</vt:lpstr>
      <vt:lpstr>Krav og Løsning</vt:lpstr>
      <vt:lpstr>Hvordan er projektet bygget?</vt:lpstr>
      <vt:lpstr>De vigtige tekniske valg</vt:lpstr>
      <vt:lpstr>Unit tests</vt:lpstr>
      <vt:lpstr>Code Snippets</vt:lpstr>
      <vt:lpstr>Coverage Report</vt:lpstr>
      <vt:lpstr>Arbejdsproces</vt:lpstr>
      <vt:lpstr>Demo</vt:lpstr>
      <vt:lpstr>Hvad lærte jeg?</vt:lpstr>
      <vt:lpstr>Begrænsninger</vt:lpstr>
      <vt:lpstr>Tak</vt:lpstr>
    </vt:vector>
  </TitlesOfParts>
  <Company>Specialisterne DK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Andrei Tumurug</dc:creator>
  <cp:lastModifiedBy>Stefan Andrei Tumurug</cp:lastModifiedBy>
  <cp:revision>4</cp:revision>
  <dcterms:created xsi:type="dcterms:W3CDTF">2026-02-13T08:39:13Z</dcterms:created>
  <dcterms:modified xsi:type="dcterms:W3CDTF">2026-02-13T13:00:14Z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